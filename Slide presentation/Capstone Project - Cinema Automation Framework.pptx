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"/>
      <p:regular r:id="rId19"/>
      <p:bold r:id="rId20"/>
      <p:italic r:id="rId21"/>
      <p:boldItalic r:id="rId22"/>
    </p:embeddedFont>
    <p:embeddedFont>
      <p:font typeface="JetBrains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D46701-DD3F-4BFF-842A-D5D7FC120007}">
  <a:tblStyle styleId="{89D46701-DD3F-4BFF-842A-D5D7FC12000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22" Type="http://schemas.openxmlformats.org/officeDocument/2006/relationships/font" Target="fonts/Urbanist-boldItalic.fntdata"/><Relationship Id="rId21" Type="http://schemas.openxmlformats.org/officeDocument/2006/relationships/font" Target="fonts/Urbanist-italic.fntdata"/><Relationship Id="rId24" Type="http://schemas.openxmlformats.org/officeDocument/2006/relationships/font" Target="fonts/JetBrainsMono-bold.fntdata"/><Relationship Id="rId23" Type="http://schemas.openxmlformats.org/officeDocument/2006/relationships/font" Target="fonts/JetBrains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boldItalic.fntdata"/><Relationship Id="rId25" Type="http://schemas.openxmlformats.org/officeDocument/2006/relationships/font" Target="fonts/JetBrains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5.jpg"/><Relationship Id="rId9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30.png"/><Relationship Id="rId6" Type="http://schemas.openxmlformats.org/officeDocument/2006/relationships/image" Target="../media/image27.png"/><Relationship Id="rId7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32.png"/><Relationship Id="rId7" Type="http://schemas.openxmlformats.org/officeDocument/2006/relationships/image" Target="../media/image18.png"/><Relationship Id="rId8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32000" y="947876"/>
            <a:ext cx="712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925" y="1359475"/>
            <a:ext cx="111564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Automation Testing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Framework Architecture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61250" y="3429004"/>
            <a:ext cx="7127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Cinema Booking Web with Playwright &amp; TypeScript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543147" y="4521400"/>
            <a:ext cx="580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STUDENT:</a:t>
            </a:r>
            <a:r>
              <a:rPr lang="en-US" sz="150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Nguyễn Thị Thuỳ Trang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543149" y="4903000"/>
            <a:ext cx="60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COURSE: </a:t>
            </a:r>
            <a:r>
              <a:rPr lang="en-US" sz="150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Testing 15 -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Automation Testing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 rotWithShape="1">
          <a:blip r:embed="rId4">
            <a:alphaModFix/>
          </a:blip>
          <a:srcRect b="12161" l="0" r="0" t="12161"/>
          <a:stretch/>
        </p:blipFill>
        <p:spPr>
          <a:xfrm>
            <a:off x="6298850" y="1538287"/>
            <a:ext cx="5286374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000125" y="178117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POM Architecture: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Implement a scalable Page Object Model pattern.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264795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Playwright Framework: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Build a robust framework using TypeScript.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351472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Maintainability: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Ensure code is reusable and easy to update.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438150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Automation Coverage: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Target ≥ 40% functional coverage.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524827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End-to-End Flow: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Automate the complete booking journey.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14512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8128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48062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14837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281612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Project Objectives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821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166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title="49ebe50d-b42d-47a0-b490-3db20c58a46e.png"/>
          <p:cNvPicPr preferRelativeResize="0"/>
          <p:nvPr/>
        </p:nvPicPr>
        <p:blipFill rotWithShape="1">
          <a:blip r:embed="rId5">
            <a:alphaModFix/>
          </a:blip>
          <a:srcRect b="0" l="5357" r="5366" t="0"/>
          <a:stretch/>
        </p:blipFill>
        <p:spPr>
          <a:xfrm>
            <a:off x="151700" y="1871650"/>
            <a:ext cx="5864924" cy="43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334125" y="239077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Logic Layering: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762750" y="2828925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Test Spec: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Pure test steps &amp; assertions.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762750" y="3381375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Page Objects: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Locators &amp; page-specific actions.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762750" y="3933825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Common Page: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Reusable global UI components.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762750" y="448627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Base Page: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Low-level Playwright wrappers (click, type).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571500"/>
            <a:ext cx="11401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Framework Architecture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2200"/>
            <a:ext cx="4953000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62000" y="762000"/>
            <a:ext cx="50006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Project Structure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762000"/>
            <a:ext cx="57150" cy="5048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6" title="Screenshot 2026-07-14 at 11.17.57.png"/>
          <p:cNvPicPr preferRelativeResize="0"/>
          <p:nvPr/>
        </p:nvPicPr>
        <p:blipFill rotWithShape="1">
          <a:blip r:embed="rId5">
            <a:alphaModFix/>
          </a:blip>
          <a:srcRect b="48596" l="0" r="0" t="4749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164782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Our repository is organized for clarity and separation of concerns: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17"/>
          <p:cNvGraphicFramePr/>
          <p:nvPr/>
        </p:nvGraphicFramePr>
        <p:xfrm>
          <a:off x="571500" y="15763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{89D46701-DD3F-4BFF-842A-D5D7FC120007}</a:tableStyleId>
              </a:tblPr>
              <a:tblGrid>
                <a:gridCol w="3163200"/>
                <a:gridCol w="7885800"/>
              </a:tblGrid>
              <a:tr h="6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ADE8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Folder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ADE8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Functionality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tests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Main test kịch bản (.spec.ts files)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pages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Locators mapping and UI interactions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components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Reusable widgets like </a:t>
                      </a:r>
                      <a:r>
                        <a:rPr lang="en-US" sz="135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Top Bar</a:t>
                      </a: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or Modals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fixtures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Automated Page Object instantiation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test-data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JSON files for login and movie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constants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Wait times, URLs, and global strings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17"/>
          <p:cNvSpPr/>
          <p:nvPr/>
        </p:nvSpPr>
        <p:spPr>
          <a:xfrm>
            <a:off x="571500" y="2266950"/>
            <a:ext cx="31631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3734692" y="2266950"/>
            <a:ext cx="7885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571500" y="2914650"/>
            <a:ext cx="31631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3734692" y="2914650"/>
            <a:ext cx="7885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71500" y="3562350"/>
            <a:ext cx="31631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734692" y="3562350"/>
            <a:ext cx="7885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71500" y="4210050"/>
            <a:ext cx="31631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3734692" y="4210050"/>
            <a:ext cx="7885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4857750"/>
            <a:ext cx="31631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734692" y="4857750"/>
            <a:ext cx="7885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5505450"/>
            <a:ext cx="31631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3734692" y="5505450"/>
            <a:ext cx="7885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71500" y="6153150"/>
            <a:ext cx="31631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3734692" y="6153150"/>
            <a:ext cx="7885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Folder Responsibilities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6000"/>
            <a:ext cx="35242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286000"/>
            <a:ext cx="35242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286000"/>
            <a:ext cx="35242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50292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Each spec targets a single functional module for atomic testing.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93432" y="3228975"/>
            <a:ext cx="30803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Auth Specs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66775" y="3448050"/>
            <a:ext cx="2933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register.spec.ts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login.spec.ts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4555807" y="3228975"/>
            <a:ext cx="30803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Booking Specs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629150" y="3448050"/>
            <a:ext cx="2933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movie-detail.spec.ts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showtime.spec.ts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seat.spec.ts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318182" y="3228975"/>
            <a:ext cx="30803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Account Specs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391525" y="3448050"/>
            <a:ext cx="2933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booking.spec.ts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profile.spec.ts</a:t>
            </a:r>
            <a:endParaRPr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95500" y="26098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1687" y="26098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4062" y="26098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Core Spec Files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8900"/>
            <a:ext cx="5286375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28900"/>
            <a:ext cx="5286375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962025" y="3019425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Foundation Pages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724650" y="3019425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Functional Pages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228725" y="34290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343025" y="3429000"/>
            <a:ext cx="412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BasePage.ts (Wrappers)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228725" y="37147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343025" y="3714750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CommonPage.ts (Navigation)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1228725" y="40005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343025" y="4000500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HomePage.ts (Discovery)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991350" y="34290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105650" y="3429000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LoginPage.ts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991350" y="37147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105650" y="3714750"/>
            <a:ext cx="412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RegisterPage.ts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991350" y="40005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7105650" y="4000500"/>
            <a:ext cx="412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MovieDetailPage.ts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991350" y="42862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105650" y="4286250"/>
            <a:ext cx="412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BookingPage.ts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Page Object Mapping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14600"/>
            <a:ext cx="5286375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14600"/>
            <a:ext cx="5286375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962025" y="2905125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8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Happy Path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962025" y="3124200"/>
            <a:ext cx="4505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Verified successful flows: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724650" y="2905125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99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Unhappy Path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724650" y="3124200"/>
            <a:ext cx="4505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Error handling validation:</a:t>
            </a:r>
            <a:endParaRPr/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24175"/>
            <a:ext cx="148976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1304925" y="35242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1343025" y="3524250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 Registration &amp; Login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1304925" y="38100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1343025" y="3810000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Movie detail navigation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1304925" y="40957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343025" y="4095750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Showtime &amp; Seat selection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304925" y="43815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343025" y="4381500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Successful checkout flow</a:t>
            </a:r>
            <a:endParaRPr/>
          </a:p>
        </p:txBody>
      </p:sp>
      <p:pic>
        <p:nvPicPr>
          <p:cNvPr descr="image.png" id="219" name="Google Shape;21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924175"/>
            <a:ext cx="129926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7067550" y="35242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105650" y="3524250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Invalid data format entry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7067550" y="38100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105650" y="3810000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Incorrect credential attempts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7067550" y="40957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7105650" y="4095750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Booking without seat selection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7067550" y="43815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7105650" y="4381500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Session timeout handling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Test Scenarios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5" name="Google Shape;235;p21"/>
          <p:cNvGraphicFramePr/>
          <p:nvPr/>
        </p:nvGraphicFramePr>
        <p:xfrm>
          <a:off x="571500" y="1733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{89D46701-DD3F-4BFF-842A-D5D7FC120007}</a:tableStyleId>
              </a:tblPr>
              <a:tblGrid>
                <a:gridCol w="3814025"/>
                <a:gridCol w="2909600"/>
                <a:gridCol w="4325400"/>
              </a:tblGrid>
              <a:tr h="65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ADE8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 Module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ADE8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ADE8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Automation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5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User Authentication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✔ Completed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UI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Movie Catalog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✔ Completed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UI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Booking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✔ Completed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End-to-End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User History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✔ Completed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UI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p21"/>
          <p:cNvSpPr txBox="1"/>
          <p:nvPr/>
        </p:nvSpPr>
        <p:spPr>
          <a:xfrm>
            <a:off x="571500" y="541020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571500" y="2424112"/>
            <a:ext cx="38140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4385518" y="2424112"/>
            <a:ext cx="29095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7295108" y="2424112"/>
            <a:ext cx="43253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571500" y="3071812"/>
            <a:ext cx="38140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385518" y="3071812"/>
            <a:ext cx="29095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7295108" y="3071812"/>
            <a:ext cx="43253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71500" y="3719512"/>
            <a:ext cx="38140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4385518" y="3719512"/>
            <a:ext cx="29095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7295108" y="3719512"/>
            <a:ext cx="43253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571500" y="4367212"/>
            <a:ext cx="38140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4385518" y="4367212"/>
            <a:ext cx="29095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7295108" y="4367212"/>
            <a:ext cx="43253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71500" y="5014912"/>
            <a:ext cx="38140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385518" y="5014912"/>
            <a:ext cx="29095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7295108" y="5014912"/>
            <a:ext cx="43253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Automation Coverage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4787"/>
            <a:ext cx="11049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/>
          <p:nvPr/>
        </p:nvSpPr>
        <p:spPr>
          <a:xfrm>
            <a:off x="1409700" y="2471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4ADE80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3238500" y="2471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4ADE80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5067300" y="2471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4ADE80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6896100" y="2471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4ADE80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8724900" y="2471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4ADE80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10553700" y="2471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4ADE80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571500" y="2586037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866775" y="4310062"/>
            <a:ext cx="10458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npx playwright test --project=chromium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866775" y="4633912"/>
            <a:ext cx="10458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Running 7 tests using 4 workers...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523875" y="2788592"/>
            <a:ext cx="2000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Register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2352675" y="2202507"/>
            <a:ext cx="2000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Login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4181475" y="2788592"/>
            <a:ext cx="2000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Select Movie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010275" y="2202507"/>
            <a:ext cx="2000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Pick Seats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7839075" y="2788592"/>
            <a:ext cx="2000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Booking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9667875" y="2202507"/>
            <a:ext cx="2000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History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Execution Demo Flow</a:t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1000125" y="237172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Playwright Power: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Auto-waiting and trace viewer integration.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1000125" y="323850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Async Execution: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Fast TypeScript execution with async/await.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1000125" y="4105275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Fixture Injection: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Clean setup for every test case.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1000125" y="465772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Isolation: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Separate JSON data per environment.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6762750" y="3238500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Maintenance: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Single source of truth for all locators.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6762750" y="379095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Headless Mode: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CI/CD ready for automated pipelines.</a:t>
            </a:r>
            <a:endParaRPr/>
          </a:p>
        </p:txBody>
      </p:sp>
      <p:pic>
        <p:nvPicPr>
          <p:cNvPr descr="image.png" id="288" name="Google Shape;28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5062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7183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3861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9106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327183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4125" y="3824287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Framework Advantages</a:t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2200" y="2747962"/>
            <a:ext cx="3614737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2747962"/>
            <a:ext cx="3614737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/>
        </p:nvSpPr>
        <p:spPr>
          <a:xfrm>
            <a:off x="2175510" y="728662"/>
            <a:ext cx="78409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2362200" y="1833562"/>
            <a:ext cx="746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Project Summary &amp; Final Achievements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2362200" y="5272087"/>
            <a:ext cx="7467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Email: contact@example.com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2362200" y="5700712"/>
            <a:ext cx="7467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GitHub: /playwright-cybersoft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2657475" y="3690937"/>
            <a:ext cx="30241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POM successfully implemented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6510337" y="3690937"/>
            <a:ext cx="30241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Framework is scalable for future features</a:t>
            </a:r>
            <a:endParaRPr/>
          </a:p>
        </p:txBody>
      </p:sp>
      <p:pic>
        <p:nvPicPr>
          <p:cNvPr descr="image.png" id="309" name="Google Shape;30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31443" y="30718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31931" y="307181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